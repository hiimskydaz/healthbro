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8"/>
  </p:notesMasterIdLst>
  <p:sldIdLst>
    <p:sldId id="256" r:id="rId2"/>
    <p:sldId id="270" r:id="rId3"/>
    <p:sldId id="257" r:id="rId4"/>
    <p:sldId id="266" r:id="rId5"/>
    <p:sldId id="272" r:id="rId6"/>
    <p:sldId id="259" r:id="rId7"/>
    <p:sldId id="260" r:id="rId8"/>
    <p:sldId id="268" r:id="rId9"/>
    <p:sldId id="261" r:id="rId10"/>
    <p:sldId id="262" r:id="rId11"/>
    <p:sldId id="269" r:id="rId12"/>
    <p:sldId id="258" r:id="rId13"/>
    <p:sldId id="265" r:id="rId14"/>
    <p:sldId id="271" r:id="rId15"/>
    <p:sldId id="273" r:id="rId16"/>
    <p:sldId id="267" r:id="rId1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247" autoAdjust="0"/>
  </p:normalViewPr>
  <p:slideViewPr>
    <p:cSldViewPr snapToGrid="0">
      <p:cViewPr varScale="1">
        <p:scale>
          <a:sx n="77" d="100"/>
          <a:sy n="77" d="100"/>
        </p:scale>
        <p:origin x="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641E00-BBEB-4AD9-8B2C-DD18A2CF1C1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088B339-D958-4BEB-ACE6-78DB1A9DBBD2}">
      <dgm:prSet/>
      <dgm:spPr/>
      <dgm:t>
        <a:bodyPr/>
        <a:lstStyle/>
        <a:p>
          <a:r>
            <a:rPr lang="hu-HU"/>
            <a:t>Csapatunk neve a Nagy UNCIA. Mi készítettük a HealthBro webalkalmazást.</a:t>
          </a:r>
          <a:endParaRPr lang="en-US"/>
        </a:p>
      </dgm:t>
    </dgm:pt>
    <dgm:pt modelId="{74D13837-B415-4287-B10B-A7F3F727A2FE}" type="parTrans" cxnId="{61F351AF-5C99-4BE2-A902-C488EB66A851}">
      <dgm:prSet/>
      <dgm:spPr/>
      <dgm:t>
        <a:bodyPr/>
        <a:lstStyle/>
        <a:p>
          <a:endParaRPr lang="en-US"/>
        </a:p>
      </dgm:t>
    </dgm:pt>
    <dgm:pt modelId="{8EFFC81D-D891-4E29-9DE5-34F25082F0D7}" type="sibTrans" cxnId="{61F351AF-5C99-4BE2-A902-C488EB66A851}">
      <dgm:prSet/>
      <dgm:spPr/>
      <dgm:t>
        <a:bodyPr/>
        <a:lstStyle/>
        <a:p>
          <a:endParaRPr lang="en-US"/>
        </a:p>
      </dgm:t>
    </dgm:pt>
    <dgm:pt modelId="{DA74B25A-723B-4BC3-8236-A95811945EC0}">
      <dgm:prSet/>
      <dgm:spPr/>
      <dgm:t>
        <a:bodyPr/>
        <a:lstStyle/>
        <a:p>
          <a:r>
            <a:rPr lang="hu-HU"/>
            <a:t>A csapat 3 főből áll. </a:t>
          </a:r>
          <a:endParaRPr lang="en-US"/>
        </a:p>
      </dgm:t>
    </dgm:pt>
    <dgm:pt modelId="{4EF48A88-71E4-4195-B033-39DFA45D0510}" type="parTrans" cxnId="{9EAE093B-E5B8-4565-966E-D30E9B8BDD42}">
      <dgm:prSet/>
      <dgm:spPr/>
      <dgm:t>
        <a:bodyPr/>
        <a:lstStyle/>
        <a:p>
          <a:endParaRPr lang="en-US"/>
        </a:p>
      </dgm:t>
    </dgm:pt>
    <dgm:pt modelId="{8384155B-5246-4315-BA4A-19718C607B46}" type="sibTrans" cxnId="{9EAE093B-E5B8-4565-966E-D30E9B8BDD42}">
      <dgm:prSet/>
      <dgm:spPr/>
      <dgm:t>
        <a:bodyPr/>
        <a:lstStyle/>
        <a:p>
          <a:endParaRPr lang="en-US"/>
        </a:p>
      </dgm:t>
    </dgm:pt>
    <dgm:pt modelId="{8E46ECDD-8E69-42E4-BF9E-F2AB1200FC24}">
      <dgm:prSet/>
      <dgm:spPr/>
      <dgm:t>
        <a:bodyPr/>
        <a:lstStyle/>
        <a:p>
          <a:r>
            <a:rPr lang="hu-HU"/>
            <a:t>-Pocsai Gábor</a:t>
          </a:r>
          <a:endParaRPr lang="en-US"/>
        </a:p>
      </dgm:t>
    </dgm:pt>
    <dgm:pt modelId="{7693540D-8F10-4783-83C7-9252BB36DE71}" type="parTrans" cxnId="{8C328A3E-C15B-4EAD-8544-0191A7E06381}">
      <dgm:prSet/>
      <dgm:spPr/>
      <dgm:t>
        <a:bodyPr/>
        <a:lstStyle/>
        <a:p>
          <a:endParaRPr lang="en-US"/>
        </a:p>
      </dgm:t>
    </dgm:pt>
    <dgm:pt modelId="{A2579A27-D3AF-4E51-B1AA-201E499EEE31}" type="sibTrans" cxnId="{8C328A3E-C15B-4EAD-8544-0191A7E06381}">
      <dgm:prSet/>
      <dgm:spPr/>
      <dgm:t>
        <a:bodyPr/>
        <a:lstStyle/>
        <a:p>
          <a:endParaRPr lang="en-US"/>
        </a:p>
      </dgm:t>
    </dgm:pt>
    <dgm:pt modelId="{7D0B7B74-5D74-43D4-A371-7834B78298D3}">
      <dgm:prSet/>
      <dgm:spPr/>
      <dgm:t>
        <a:bodyPr/>
        <a:lstStyle/>
        <a:p>
          <a:r>
            <a:rPr lang="hu-HU"/>
            <a:t>-Szilágyi Jorgosz Máté </a:t>
          </a:r>
          <a:endParaRPr lang="en-US"/>
        </a:p>
      </dgm:t>
    </dgm:pt>
    <dgm:pt modelId="{2901B7AD-E6E3-44F2-9951-3BCFAD5F6600}" type="parTrans" cxnId="{E1F055BF-D5E3-4A2E-97A3-85D53481D184}">
      <dgm:prSet/>
      <dgm:spPr/>
      <dgm:t>
        <a:bodyPr/>
        <a:lstStyle/>
        <a:p>
          <a:endParaRPr lang="en-US"/>
        </a:p>
      </dgm:t>
    </dgm:pt>
    <dgm:pt modelId="{10651B4E-B150-4CB1-A0F0-8E66EE210E22}" type="sibTrans" cxnId="{E1F055BF-D5E3-4A2E-97A3-85D53481D184}">
      <dgm:prSet/>
      <dgm:spPr/>
      <dgm:t>
        <a:bodyPr/>
        <a:lstStyle/>
        <a:p>
          <a:endParaRPr lang="en-US"/>
        </a:p>
      </dgm:t>
    </dgm:pt>
    <dgm:pt modelId="{4CC055F6-8692-49BA-9986-42B71CD489F2}">
      <dgm:prSet/>
      <dgm:spPr/>
      <dgm:t>
        <a:bodyPr/>
        <a:lstStyle/>
        <a:p>
          <a:r>
            <a:rPr lang="hu-HU"/>
            <a:t>-Ludvig Péter Dániel</a:t>
          </a:r>
          <a:endParaRPr lang="en-US"/>
        </a:p>
      </dgm:t>
    </dgm:pt>
    <dgm:pt modelId="{9E140BAF-D7C3-4365-B08E-1CE03085B79B}" type="parTrans" cxnId="{9341DAF5-A7E0-4952-BD92-6625D65CF2C3}">
      <dgm:prSet/>
      <dgm:spPr/>
      <dgm:t>
        <a:bodyPr/>
        <a:lstStyle/>
        <a:p>
          <a:endParaRPr lang="en-US"/>
        </a:p>
      </dgm:t>
    </dgm:pt>
    <dgm:pt modelId="{20796D95-8BE5-481D-9189-3645EB2B133D}" type="sibTrans" cxnId="{9341DAF5-A7E0-4952-BD92-6625D65CF2C3}">
      <dgm:prSet/>
      <dgm:spPr/>
      <dgm:t>
        <a:bodyPr/>
        <a:lstStyle/>
        <a:p>
          <a:endParaRPr lang="en-US"/>
        </a:p>
      </dgm:t>
    </dgm:pt>
    <dgm:pt modelId="{6FE3A4CF-0248-4543-BBB0-58FD04EA7143}" type="pres">
      <dgm:prSet presAssocID="{6A641E00-BBEB-4AD9-8B2C-DD18A2CF1C11}" presName="vert0" presStyleCnt="0">
        <dgm:presLayoutVars>
          <dgm:dir/>
          <dgm:animOne val="branch"/>
          <dgm:animLvl val="lvl"/>
        </dgm:presLayoutVars>
      </dgm:prSet>
      <dgm:spPr/>
    </dgm:pt>
    <dgm:pt modelId="{BF3C6340-9096-4CDE-BE19-DB7D8EC4FA35}" type="pres">
      <dgm:prSet presAssocID="{1088B339-D958-4BEB-ACE6-78DB1A9DBBD2}" presName="thickLine" presStyleLbl="alignNode1" presStyleIdx="0" presStyleCnt="5"/>
      <dgm:spPr/>
    </dgm:pt>
    <dgm:pt modelId="{809EEE55-5E06-4A2F-B2BB-17799CA3BC2D}" type="pres">
      <dgm:prSet presAssocID="{1088B339-D958-4BEB-ACE6-78DB1A9DBBD2}" presName="horz1" presStyleCnt="0"/>
      <dgm:spPr/>
    </dgm:pt>
    <dgm:pt modelId="{4E88CADF-BE30-4FF0-ABB5-AF139A4779B8}" type="pres">
      <dgm:prSet presAssocID="{1088B339-D958-4BEB-ACE6-78DB1A9DBBD2}" presName="tx1" presStyleLbl="revTx" presStyleIdx="0" presStyleCnt="5"/>
      <dgm:spPr/>
    </dgm:pt>
    <dgm:pt modelId="{A6943D43-C774-41D1-9AAF-FC16DFA4125C}" type="pres">
      <dgm:prSet presAssocID="{1088B339-D958-4BEB-ACE6-78DB1A9DBBD2}" presName="vert1" presStyleCnt="0"/>
      <dgm:spPr/>
    </dgm:pt>
    <dgm:pt modelId="{C994B9DF-5C5B-4244-97AC-32F8555B2DE6}" type="pres">
      <dgm:prSet presAssocID="{DA74B25A-723B-4BC3-8236-A95811945EC0}" presName="thickLine" presStyleLbl="alignNode1" presStyleIdx="1" presStyleCnt="5"/>
      <dgm:spPr/>
    </dgm:pt>
    <dgm:pt modelId="{84B78930-2267-46BC-BC80-DB6DB4C83031}" type="pres">
      <dgm:prSet presAssocID="{DA74B25A-723B-4BC3-8236-A95811945EC0}" presName="horz1" presStyleCnt="0"/>
      <dgm:spPr/>
    </dgm:pt>
    <dgm:pt modelId="{71C85AF7-0121-451D-94F9-3365AE5C27E7}" type="pres">
      <dgm:prSet presAssocID="{DA74B25A-723B-4BC3-8236-A95811945EC0}" presName="tx1" presStyleLbl="revTx" presStyleIdx="1" presStyleCnt="5"/>
      <dgm:spPr/>
    </dgm:pt>
    <dgm:pt modelId="{FA8100E7-D808-4C79-B811-6CA4CBCD510C}" type="pres">
      <dgm:prSet presAssocID="{DA74B25A-723B-4BC3-8236-A95811945EC0}" presName="vert1" presStyleCnt="0"/>
      <dgm:spPr/>
    </dgm:pt>
    <dgm:pt modelId="{2A6F6AB5-F8FE-42C8-A000-8E859363F233}" type="pres">
      <dgm:prSet presAssocID="{8E46ECDD-8E69-42E4-BF9E-F2AB1200FC24}" presName="thickLine" presStyleLbl="alignNode1" presStyleIdx="2" presStyleCnt="5"/>
      <dgm:spPr/>
    </dgm:pt>
    <dgm:pt modelId="{FB112A6E-A255-4112-A4D4-F55353A1DBC4}" type="pres">
      <dgm:prSet presAssocID="{8E46ECDD-8E69-42E4-BF9E-F2AB1200FC24}" presName="horz1" presStyleCnt="0"/>
      <dgm:spPr/>
    </dgm:pt>
    <dgm:pt modelId="{0DAFD26A-08D6-4DE9-B3C8-F6DEE174EF9D}" type="pres">
      <dgm:prSet presAssocID="{8E46ECDD-8E69-42E4-BF9E-F2AB1200FC24}" presName="tx1" presStyleLbl="revTx" presStyleIdx="2" presStyleCnt="5"/>
      <dgm:spPr/>
    </dgm:pt>
    <dgm:pt modelId="{666E200D-7F29-48C9-B8FD-98261A62D518}" type="pres">
      <dgm:prSet presAssocID="{8E46ECDD-8E69-42E4-BF9E-F2AB1200FC24}" presName="vert1" presStyleCnt="0"/>
      <dgm:spPr/>
    </dgm:pt>
    <dgm:pt modelId="{6A8EAEC8-252B-44DD-B2F2-18EED91C404E}" type="pres">
      <dgm:prSet presAssocID="{7D0B7B74-5D74-43D4-A371-7834B78298D3}" presName="thickLine" presStyleLbl="alignNode1" presStyleIdx="3" presStyleCnt="5"/>
      <dgm:spPr/>
    </dgm:pt>
    <dgm:pt modelId="{7AB8405E-8AB1-4ACE-A5AC-70EB0BAF2B84}" type="pres">
      <dgm:prSet presAssocID="{7D0B7B74-5D74-43D4-A371-7834B78298D3}" presName="horz1" presStyleCnt="0"/>
      <dgm:spPr/>
    </dgm:pt>
    <dgm:pt modelId="{EFEA67B1-EAB8-4219-B836-A34DA8F80E26}" type="pres">
      <dgm:prSet presAssocID="{7D0B7B74-5D74-43D4-A371-7834B78298D3}" presName="tx1" presStyleLbl="revTx" presStyleIdx="3" presStyleCnt="5"/>
      <dgm:spPr/>
    </dgm:pt>
    <dgm:pt modelId="{B9D5F19D-4074-4935-94CA-206A53959CB1}" type="pres">
      <dgm:prSet presAssocID="{7D0B7B74-5D74-43D4-A371-7834B78298D3}" presName="vert1" presStyleCnt="0"/>
      <dgm:spPr/>
    </dgm:pt>
    <dgm:pt modelId="{06537CAE-7A9A-4B83-A5EA-AB1E985FC784}" type="pres">
      <dgm:prSet presAssocID="{4CC055F6-8692-49BA-9986-42B71CD489F2}" presName="thickLine" presStyleLbl="alignNode1" presStyleIdx="4" presStyleCnt="5"/>
      <dgm:spPr/>
    </dgm:pt>
    <dgm:pt modelId="{CAC6BE74-42EC-42D1-85A7-A665923D599B}" type="pres">
      <dgm:prSet presAssocID="{4CC055F6-8692-49BA-9986-42B71CD489F2}" presName="horz1" presStyleCnt="0"/>
      <dgm:spPr/>
    </dgm:pt>
    <dgm:pt modelId="{76329412-7378-478E-9E44-AA207016D714}" type="pres">
      <dgm:prSet presAssocID="{4CC055F6-8692-49BA-9986-42B71CD489F2}" presName="tx1" presStyleLbl="revTx" presStyleIdx="4" presStyleCnt="5"/>
      <dgm:spPr/>
    </dgm:pt>
    <dgm:pt modelId="{C656B01B-7E0A-4C92-B6C4-9399902B40A7}" type="pres">
      <dgm:prSet presAssocID="{4CC055F6-8692-49BA-9986-42B71CD489F2}" presName="vert1" presStyleCnt="0"/>
      <dgm:spPr/>
    </dgm:pt>
  </dgm:ptLst>
  <dgm:cxnLst>
    <dgm:cxn modelId="{7ADB021D-C767-416A-A9B5-CB3D78494FFF}" type="presOf" srcId="{DA74B25A-723B-4BC3-8236-A95811945EC0}" destId="{71C85AF7-0121-451D-94F9-3365AE5C27E7}" srcOrd="0" destOrd="0" presId="urn:microsoft.com/office/officeart/2008/layout/LinedList"/>
    <dgm:cxn modelId="{56681C27-B1C0-43B8-86B6-3E914AE118E0}" type="presOf" srcId="{4CC055F6-8692-49BA-9986-42B71CD489F2}" destId="{76329412-7378-478E-9E44-AA207016D714}" srcOrd="0" destOrd="0" presId="urn:microsoft.com/office/officeart/2008/layout/LinedList"/>
    <dgm:cxn modelId="{652D6938-FE51-417F-8108-D5AB8BA32F37}" type="presOf" srcId="{8E46ECDD-8E69-42E4-BF9E-F2AB1200FC24}" destId="{0DAFD26A-08D6-4DE9-B3C8-F6DEE174EF9D}" srcOrd="0" destOrd="0" presId="urn:microsoft.com/office/officeart/2008/layout/LinedList"/>
    <dgm:cxn modelId="{9EAE093B-E5B8-4565-966E-D30E9B8BDD42}" srcId="{6A641E00-BBEB-4AD9-8B2C-DD18A2CF1C11}" destId="{DA74B25A-723B-4BC3-8236-A95811945EC0}" srcOrd="1" destOrd="0" parTransId="{4EF48A88-71E4-4195-B033-39DFA45D0510}" sibTransId="{8384155B-5246-4315-BA4A-19718C607B46}"/>
    <dgm:cxn modelId="{8C328A3E-C15B-4EAD-8544-0191A7E06381}" srcId="{6A641E00-BBEB-4AD9-8B2C-DD18A2CF1C11}" destId="{8E46ECDD-8E69-42E4-BF9E-F2AB1200FC24}" srcOrd="2" destOrd="0" parTransId="{7693540D-8F10-4783-83C7-9252BB36DE71}" sibTransId="{A2579A27-D3AF-4E51-B1AA-201E499EEE31}"/>
    <dgm:cxn modelId="{61F351AF-5C99-4BE2-A902-C488EB66A851}" srcId="{6A641E00-BBEB-4AD9-8B2C-DD18A2CF1C11}" destId="{1088B339-D958-4BEB-ACE6-78DB1A9DBBD2}" srcOrd="0" destOrd="0" parTransId="{74D13837-B415-4287-B10B-A7F3F727A2FE}" sibTransId="{8EFFC81D-D891-4E29-9DE5-34F25082F0D7}"/>
    <dgm:cxn modelId="{E1F055BF-D5E3-4A2E-97A3-85D53481D184}" srcId="{6A641E00-BBEB-4AD9-8B2C-DD18A2CF1C11}" destId="{7D0B7B74-5D74-43D4-A371-7834B78298D3}" srcOrd="3" destOrd="0" parTransId="{2901B7AD-E6E3-44F2-9951-3BCFAD5F6600}" sibTransId="{10651B4E-B150-4CB1-A0F0-8E66EE210E22}"/>
    <dgm:cxn modelId="{86D065DD-2085-47A7-BBCE-5FE95E49DAEE}" type="presOf" srcId="{7D0B7B74-5D74-43D4-A371-7834B78298D3}" destId="{EFEA67B1-EAB8-4219-B836-A34DA8F80E26}" srcOrd="0" destOrd="0" presId="urn:microsoft.com/office/officeart/2008/layout/LinedList"/>
    <dgm:cxn modelId="{E19FE9E6-2944-4AE4-BE54-D30D9E684E3F}" type="presOf" srcId="{1088B339-D958-4BEB-ACE6-78DB1A9DBBD2}" destId="{4E88CADF-BE30-4FF0-ABB5-AF139A4779B8}" srcOrd="0" destOrd="0" presId="urn:microsoft.com/office/officeart/2008/layout/LinedList"/>
    <dgm:cxn modelId="{657FF7EF-79E4-4911-9527-48FD40D88673}" type="presOf" srcId="{6A641E00-BBEB-4AD9-8B2C-DD18A2CF1C11}" destId="{6FE3A4CF-0248-4543-BBB0-58FD04EA7143}" srcOrd="0" destOrd="0" presId="urn:microsoft.com/office/officeart/2008/layout/LinedList"/>
    <dgm:cxn modelId="{9341DAF5-A7E0-4952-BD92-6625D65CF2C3}" srcId="{6A641E00-BBEB-4AD9-8B2C-DD18A2CF1C11}" destId="{4CC055F6-8692-49BA-9986-42B71CD489F2}" srcOrd="4" destOrd="0" parTransId="{9E140BAF-D7C3-4365-B08E-1CE03085B79B}" sibTransId="{20796D95-8BE5-481D-9189-3645EB2B133D}"/>
    <dgm:cxn modelId="{DD7222DA-709A-4BF5-B271-E8AA60AC32F4}" type="presParOf" srcId="{6FE3A4CF-0248-4543-BBB0-58FD04EA7143}" destId="{BF3C6340-9096-4CDE-BE19-DB7D8EC4FA35}" srcOrd="0" destOrd="0" presId="urn:microsoft.com/office/officeart/2008/layout/LinedList"/>
    <dgm:cxn modelId="{B6AF9A33-955A-4646-8741-A51D86039462}" type="presParOf" srcId="{6FE3A4CF-0248-4543-BBB0-58FD04EA7143}" destId="{809EEE55-5E06-4A2F-B2BB-17799CA3BC2D}" srcOrd="1" destOrd="0" presId="urn:microsoft.com/office/officeart/2008/layout/LinedList"/>
    <dgm:cxn modelId="{74AC937D-6C98-4861-8A98-F5939E857983}" type="presParOf" srcId="{809EEE55-5E06-4A2F-B2BB-17799CA3BC2D}" destId="{4E88CADF-BE30-4FF0-ABB5-AF139A4779B8}" srcOrd="0" destOrd="0" presId="urn:microsoft.com/office/officeart/2008/layout/LinedList"/>
    <dgm:cxn modelId="{4D39D75E-ABE5-4356-9C17-D84E5B97F041}" type="presParOf" srcId="{809EEE55-5E06-4A2F-B2BB-17799CA3BC2D}" destId="{A6943D43-C774-41D1-9AAF-FC16DFA4125C}" srcOrd="1" destOrd="0" presId="urn:microsoft.com/office/officeart/2008/layout/LinedList"/>
    <dgm:cxn modelId="{62C7B2B3-5DB8-4A39-9707-6D46C752669F}" type="presParOf" srcId="{6FE3A4CF-0248-4543-BBB0-58FD04EA7143}" destId="{C994B9DF-5C5B-4244-97AC-32F8555B2DE6}" srcOrd="2" destOrd="0" presId="urn:microsoft.com/office/officeart/2008/layout/LinedList"/>
    <dgm:cxn modelId="{78A9FD77-DAF2-4F66-A5D3-7FE826D4B4CC}" type="presParOf" srcId="{6FE3A4CF-0248-4543-BBB0-58FD04EA7143}" destId="{84B78930-2267-46BC-BC80-DB6DB4C83031}" srcOrd="3" destOrd="0" presId="urn:microsoft.com/office/officeart/2008/layout/LinedList"/>
    <dgm:cxn modelId="{F971BE27-47F3-48B2-8832-E46981D0E7C2}" type="presParOf" srcId="{84B78930-2267-46BC-BC80-DB6DB4C83031}" destId="{71C85AF7-0121-451D-94F9-3365AE5C27E7}" srcOrd="0" destOrd="0" presId="urn:microsoft.com/office/officeart/2008/layout/LinedList"/>
    <dgm:cxn modelId="{44A27AEF-02AB-4DE0-8DA9-D2EEF4D58575}" type="presParOf" srcId="{84B78930-2267-46BC-BC80-DB6DB4C83031}" destId="{FA8100E7-D808-4C79-B811-6CA4CBCD510C}" srcOrd="1" destOrd="0" presId="urn:microsoft.com/office/officeart/2008/layout/LinedList"/>
    <dgm:cxn modelId="{85DB6A99-98F0-4AB3-8DE2-FB33D22E042E}" type="presParOf" srcId="{6FE3A4CF-0248-4543-BBB0-58FD04EA7143}" destId="{2A6F6AB5-F8FE-42C8-A000-8E859363F233}" srcOrd="4" destOrd="0" presId="urn:microsoft.com/office/officeart/2008/layout/LinedList"/>
    <dgm:cxn modelId="{E0BEAC55-372C-4944-8B13-681A809B6F83}" type="presParOf" srcId="{6FE3A4CF-0248-4543-BBB0-58FD04EA7143}" destId="{FB112A6E-A255-4112-A4D4-F55353A1DBC4}" srcOrd="5" destOrd="0" presId="urn:microsoft.com/office/officeart/2008/layout/LinedList"/>
    <dgm:cxn modelId="{0FC87368-84A7-46A2-9F16-3C579723E610}" type="presParOf" srcId="{FB112A6E-A255-4112-A4D4-F55353A1DBC4}" destId="{0DAFD26A-08D6-4DE9-B3C8-F6DEE174EF9D}" srcOrd="0" destOrd="0" presId="urn:microsoft.com/office/officeart/2008/layout/LinedList"/>
    <dgm:cxn modelId="{AC658B4E-9959-4204-BEC1-1BE58A3DAA77}" type="presParOf" srcId="{FB112A6E-A255-4112-A4D4-F55353A1DBC4}" destId="{666E200D-7F29-48C9-B8FD-98261A62D518}" srcOrd="1" destOrd="0" presId="urn:microsoft.com/office/officeart/2008/layout/LinedList"/>
    <dgm:cxn modelId="{4B1106D2-1D49-4E85-AD70-2C55A021AF08}" type="presParOf" srcId="{6FE3A4CF-0248-4543-BBB0-58FD04EA7143}" destId="{6A8EAEC8-252B-44DD-B2F2-18EED91C404E}" srcOrd="6" destOrd="0" presId="urn:microsoft.com/office/officeart/2008/layout/LinedList"/>
    <dgm:cxn modelId="{DFD7F503-133D-4220-890C-B766E8BCB185}" type="presParOf" srcId="{6FE3A4CF-0248-4543-BBB0-58FD04EA7143}" destId="{7AB8405E-8AB1-4ACE-A5AC-70EB0BAF2B84}" srcOrd="7" destOrd="0" presId="urn:microsoft.com/office/officeart/2008/layout/LinedList"/>
    <dgm:cxn modelId="{456AC0DD-75A7-41AB-8C8F-87FA951D9CE4}" type="presParOf" srcId="{7AB8405E-8AB1-4ACE-A5AC-70EB0BAF2B84}" destId="{EFEA67B1-EAB8-4219-B836-A34DA8F80E26}" srcOrd="0" destOrd="0" presId="urn:microsoft.com/office/officeart/2008/layout/LinedList"/>
    <dgm:cxn modelId="{1E7DD597-D9BE-4AC5-B2CD-43A54192E05C}" type="presParOf" srcId="{7AB8405E-8AB1-4ACE-A5AC-70EB0BAF2B84}" destId="{B9D5F19D-4074-4935-94CA-206A53959CB1}" srcOrd="1" destOrd="0" presId="urn:microsoft.com/office/officeart/2008/layout/LinedList"/>
    <dgm:cxn modelId="{E1E1AE3B-5E0C-47E6-8868-675E123E7421}" type="presParOf" srcId="{6FE3A4CF-0248-4543-BBB0-58FD04EA7143}" destId="{06537CAE-7A9A-4B83-A5EA-AB1E985FC784}" srcOrd="8" destOrd="0" presId="urn:microsoft.com/office/officeart/2008/layout/LinedList"/>
    <dgm:cxn modelId="{2F580C7D-5606-4AD8-853B-2A6D84099DC7}" type="presParOf" srcId="{6FE3A4CF-0248-4543-BBB0-58FD04EA7143}" destId="{CAC6BE74-42EC-42D1-85A7-A665923D599B}" srcOrd="9" destOrd="0" presId="urn:microsoft.com/office/officeart/2008/layout/LinedList"/>
    <dgm:cxn modelId="{0ED844F5-DA84-4176-9040-DA50F609AD97}" type="presParOf" srcId="{CAC6BE74-42EC-42D1-85A7-A665923D599B}" destId="{76329412-7378-478E-9E44-AA207016D714}" srcOrd="0" destOrd="0" presId="urn:microsoft.com/office/officeart/2008/layout/LinedList"/>
    <dgm:cxn modelId="{F094A662-4C94-4021-A699-BB4F500A227B}" type="presParOf" srcId="{CAC6BE74-42EC-42D1-85A7-A665923D599B}" destId="{C656B01B-7E0A-4C92-B6C4-9399902B40A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3C6340-9096-4CDE-BE19-DB7D8EC4FA35}">
      <dsp:nvSpPr>
        <dsp:cNvPr id="0" name=""/>
        <dsp:cNvSpPr/>
      </dsp:nvSpPr>
      <dsp:spPr>
        <a:xfrm>
          <a:off x="0" y="642"/>
          <a:ext cx="546431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88CADF-BE30-4FF0-ABB5-AF139A4779B8}">
      <dsp:nvSpPr>
        <dsp:cNvPr id="0" name=""/>
        <dsp:cNvSpPr/>
      </dsp:nvSpPr>
      <dsp:spPr>
        <a:xfrm>
          <a:off x="0" y="642"/>
          <a:ext cx="5464315" cy="1052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Csapatunk neve a Nagy UNCIA. Mi készítettük a HealthBro webalkalmazást.</a:t>
          </a:r>
          <a:endParaRPr lang="en-US" sz="2300" kern="1200"/>
        </a:p>
      </dsp:txBody>
      <dsp:txXfrm>
        <a:off x="0" y="642"/>
        <a:ext cx="5464315" cy="1052120"/>
      </dsp:txXfrm>
    </dsp:sp>
    <dsp:sp modelId="{C994B9DF-5C5B-4244-97AC-32F8555B2DE6}">
      <dsp:nvSpPr>
        <dsp:cNvPr id="0" name=""/>
        <dsp:cNvSpPr/>
      </dsp:nvSpPr>
      <dsp:spPr>
        <a:xfrm>
          <a:off x="0" y="1052763"/>
          <a:ext cx="5464315" cy="0"/>
        </a:xfrm>
        <a:prstGeom prst="line">
          <a:avLst/>
        </a:prstGeom>
        <a:solidFill>
          <a:schemeClr val="accent2">
            <a:hueOff val="-375806"/>
            <a:satOff val="-1665"/>
            <a:lumOff val="784"/>
            <a:alphaOff val="0"/>
          </a:schemeClr>
        </a:solidFill>
        <a:ln w="12700" cap="flat" cmpd="sng" algn="ctr">
          <a:solidFill>
            <a:schemeClr val="accent2">
              <a:hueOff val="-375806"/>
              <a:satOff val="-1665"/>
              <a:lumOff val="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C85AF7-0121-451D-94F9-3365AE5C27E7}">
      <dsp:nvSpPr>
        <dsp:cNvPr id="0" name=""/>
        <dsp:cNvSpPr/>
      </dsp:nvSpPr>
      <dsp:spPr>
        <a:xfrm>
          <a:off x="0" y="1052763"/>
          <a:ext cx="5464315" cy="1052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A csapat 3 főből áll. </a:t>
          </a:r>
          <a:endParaRPr lang="en-US" sz="2300" kern="1200"/>
        </a:p>
      </dsp:txBody>
      <dsp:txXfrm>
        <a:off x="0" y="1052763"/>
        <a:ext cx="5464315" cy="1052120"/>
      </dsp:txXfrm>
    </dsp:sp>
    <dsp:sp modelId="{2A6F6AB5-F8FE-42C8-A000-8E859363F233}">
      <dsp:nvSpPr>
        <dsp:cNvPr id="0" name=""/>
        <dsp:cNvSpPr/>
      </dsp:nvSpPr>
      <dsp:spPr>
        <a:xfrm>
          <a:off x="0" y="2104884"/>
          <a:ext cx="5464315" cy="0"/>
        </a:xfrm>
        <a:prstGeom prst="line">
          <a:avLst/>
        </a:prstGeom>
        <a:solidFill>
          <a:schemeClr val="accent2">
            <a:hueOff val="-751613"/>
            <a:satOff val="-3330"/>
            <a:lumOff val="1568"/>
            <a:alphaOff val="0"/>
          </a:schemeClr>
        </a:solidFill>
        <a:ln w="12700" cap="flat" cmpd="sng" algn="ctr">
          <a:solidFill>
            <a:schemeClr val="accent2">
              <a:hueOff val="-751613"/>
              <a:satOff val="-3330"/>
              <a:lumOff val="15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AFD26A-08D6-4DE9-B3C8-F6DEE174EF9D}">
      <dsp:nvSpPr>
        <dsp:cNvPr id="0" name=""/>
        <dsp:cNvSpPr/>
      </dsp:nvSpPr>
      <dsp:spPr>
        <a:xfrm>
          <a:off x="0" y="2104884"/>
          <a:ext cx="5464315" cy="1052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-Pocsai Gábor</a:t>
          </a:r>
          <a:endParaRPr lang="en-US" sz="2300" kern="1200"/>
        </a:p>
      </dsp:txBody>
      <dsp:txXfrm>
        <a:off x="0" y="2104884"/>
        <a:ext cx="5464315" cy="1052120"/>
      </dsp:txXfrm>
    </dsp:sp>
    <dsp:sp modelId="{6A8EAEC8-252B-44DD-B2F2-18EED91C404E}">
      <dsp:nvSpPr>
        <dsp:cNvPr id="0" name=""/>
        <dsp:cNvSpPr/>
      </dsp:nvSpPr>
      <dsp:spPr>
        <a:xfrm>
          <a:off x="0" y="3157004"/>
          <a:ext cx="5464315" cy="0"/>
        </a:xfrm>
        <a:prstGeom prst="line">
          <a:avLst/>
        </a:prstGeom>
        <a:solidFill>
          <a:schemeClr val="accent2">
            <a:hueOff val="-1127419"/>
            <a:satOff val="-4995"/>
            <a:lumOff val="2352"/>
            <a:alphaOff val="0"/>
          </a:schemeClr>
        </a:solidFill>
        <a:ln w="12700" cap="flat" cmpd="sng" algn="ctr">
          <a:solidFill>
            <a:schemeClr val="accent2">
              <a:hueOff val="-1127419"/>
              <a:satOff val="-4995"/>
              <a:lumOff val="23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EA67B1-EAB8-4219-B836-A34DA8F80E26}">
      <dsp:nvSpPr>
        <dsp:cNvPr id="0" name=""/>
        <dsp:cNvSpPr/>
      </dsp:nvSpPr>
      <dsp:spPr>
        <a:xfrm>
          <a:off x="0" y="3157004"/>
          <a:ext cx="5464315" cy="1052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-Szilágyi Jorgosz Máté </a:t>
          </a:r>
          <a:endParaRPr lang="en-US" sz="2300" kern="1200"/>
        </a:p>
      </dsp:txBody>
      <dsp:txXfrm>
        <a:off x="0" y="3157004"/>
        <a:ext cx="5464315" cy="1052120"/>
      </dsp:txXfrm>
    </dsp:sp>
    <dsp:sp modelId="{06537CAE-7A9A-4B83-A5EA-AB1E985FC784}">
      <dsp:nvSpPr>
        <dsp:cNvPr id="0" name=""/>
        <dsp:cNvSpPr/>
      </dsp:nvSpPr>
      <dsp:spPr>
        <a:xfrm>
          <a:off x="0" y="4209125"/>
          <a:ext cx="5464315" cy="0"/>
        </a:xfrm>
        <a:prstGeom prst="line">
          <a:avLst/>
        </a:prstGeom>
        <a:solidFill>
          <a:schemeClr val="accent2">
            <a:hueOff val="-1503225"/>
            <a:satOff val="-6660"/>
            <a:lumOff val="3136"/>
            <a:alphaOff val="0"/>
          </a:schemeClr>
        </a:solidFill>
        <a:ln w="12700" cap="flat" cmpd="sng" algn="ctr">
          <a:solidFill>
            <a:schemeClr val="accent2">
              <a:hueOff val="-1503225"/>
              <a:satOff val="-6660"/>
              <a:lumOff val="313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29412-7378-478E-9E44-AA207016D714}">
      <dsp:nvSpPr>
        <dsp:cNvPr id="0" name=""/>
        <dsp:cNvSpPr/>
      </dsp:nvSpPr>
      <dsp:spPr>
        <a:xfrm>
          <a:off x="0" y="4209125"/>
          <a:ext cx="5464315" cy="1052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-Ludvig Péter Dániel</a:t>
          </a:r>
          <a:endParaRPr lang="en-US" sz="2300" kern="1200"/>
        </a:p>
      </dsp:txBody>
      <dsp:txXfrm>
        <a:off x="0" y="4209125"/>
        <a:ext cx="5464315" cy="1052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946E0-DD12-4A45-9E0E-B9D744E5C3E5}" type="datetimeFigureOut">
              <a:rPr lang="hu-HU" smtClean="0"/>
              <a:t>2025. 05. 19.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2AB6A8-B56E-49A7-8176-476DB104EDC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6689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AB6A8-B56E-49A7-8176-476DB104EDCC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54085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AB6A8-B56E-49A7-8176-476DB104EDCC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61029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AB6A8-B56E-49A7-8176-476DB104EDCC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55830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AB6A8-B56E-49A7-8176-476DB104EDCC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07568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AB6A8-B56E-49A7-8176-476DB104EDCC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7121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AB6A8-B56E-49A7-8176-476DB104EDCC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54702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299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32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117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647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60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880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2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70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40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092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14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5/19/2025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901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F60170-91B4-45F0-B88B-9C07AEC46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E2ADBBA-BC8B-D55E-0269-5E9ECE479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007" y="3013510"/>
            <a:ext cx="5614993" cy="3093468"/>
          </a:xfrm>
        </p:spPr>
        <p:txBody>
          <a:bodyPr anchor="t">
            <a:normAutofit/>
          </a:bodyPr>
          <a:lstStyle/>
          <a:p>
            <a:r>
              <a:rPr lang="hu-HU" dirty="0" err="1"/>
              <a:t>HealthBRO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EBFEF31-15D2-6CE1-5B93-11866A64C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06" y="702870"/>
            <a:ext cx="5614993" cy="2163418"/>
          </a:xfrm>
        </p:spPr>
        <p:txBody>
          <a:bodyPr anchor="b">
            <a:normAutofit/>
          </a:bodyPr>
          <a:lstStyle/>
          <a:p>
            <a:r>
              <a:rPr lang="hu-HU" dirty="0"/>
              <a:t>Készítette:</a:t>
            </a:r>
          </a:p>
          <a:p>
            <a:r>
              <a:rPr lang="hu-HU" dirty="0"/>
              <a:t>Pocsai Gábor</a:t>
            </a:r>
          </a:p>
          <a:p>
            <a:r>
              <a:rPr lang="hu-HU" dirty="0"/>
              <a:t>Szilágyi </a:t>
            </a:r>
            <a:r>
              <a:rPr lang="hu-HU" dirty="0" err="1"/>
              <a:t>Jorgosz</a:t>
            </a:r>
            <a:r>
              <a:rPr lang="hu-HU" dirty="0"/>
              <a:t> Máté</a:t>
            </a:r>
          </a:p>
          <a:p>
            <a:r>
              <a:rPr lang="hu-HU" dirty="0"/>
              <a:t>Ludvig Péter Dániel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D4B1F40-0C40-4D76-A9D3-C08686338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Kép 6" descr="A képen képernyőkép, Betűtípus, fekete, Grafik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D64848C2-817E-65C8-65E7-177CFCF5B2F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991" y="1419650"/>
            <a:ext cx="5849002" cy="4299016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FDB5627-AABE-4D21-8E40-291010575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14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F2A41A2-D5D7-2D8C-3C8B-E8DEBD9D9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865128"/>
            <a:ext cx="5613398" cy="5261895"/>
          </a:xfrm>
        </p:spPr>
        <p:txBody>
          <a:bodyPr anchor="ctr">
            <a:normAutofit/>
          </a:bodyPr>
          <a:lstStyle/>
          <a:p>
            <a:r>
              <a:rPr lang="hu-HU" i="1" dirty="0" err="1"/>
              <a:t>HealtBro</a:t>
            </a:r>
            <a:r>
              <a:rPr lang="hu-HU" dirty="0"/>
              <a:t> a </a:t>
            </a:r>
            <a:r>
              <a:rPr lang="hu-HU" u="sng" dirty="0"/>
              <a:t>Nagy UNCIA </a:t>
            </a:r>
            <a:r>
              <a:rPr lang="hu-HU" dirty="0"/>
              <a:t>által</a:t>
            </a:r>
            <a:endParaRPr lang="en-US" dirty="0"/>
          </a:p>
        </p:txBody>
      </p:sp>
      <p:cxnSp>
        <p:nvCxnSpPr>
          <p:cNvPr id="20" name="Straight Connector 10">
            <a:extLst>
              <a:ext uri="{FF2B5EF4-FFF2-40B4-BE49-F238E27FC236}">
                <a16:creationId xmlns:a16="http://schemas.microsoft.com/office/drawing/2014/main" id="{671B74E7-4838-4A57-A093-7ECD0A0CF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12">
            <a:extLst>
              <a:ext uri="{FF2B5EF4-FFF2-40B4-BE49-F238E27FC236}">
                <a16:creationId xmlns:a16="http://schemas.microsoft.com/office/drawing/2014/main" id="{164B30CE-C2B6-406B-921A-5A1BAAD87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2" name="Tartalom helye 2">
            <a:extLst>
              <a:ext uri="{FF2B5EF4-FFF2-40B4-BE49-F238E27FC236}">
                <a16:creationId xmlns:a16="http://schemas.microsoft.com/office/drawing/2014/main" id="{9970C9F3-A3C5-1C2E-342F-1216A3793B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9138904"/>
              </p:ext>
            </p:extLst>
          </p:nvPr>
        </p:nvGraphicFramePr>
        <p:xfrm>
          <a:off x="6165356" y="865127"/>
          <a:ext cx="5464315" cy="5261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0036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18AED71-A5D1-8631-35CE-D7FCBD784C43}"/>
              </a:ext>
            </a:extLst>
          </p:cNvPr>
          <p:cNvSpPr txBox="1"/>
          <p:nvPr/>
        </p:nvSpPr>
        <p:spPr>
          <a:xfrm>
            <a:off x="482600" y="976160"/>
            <a:ext cx="3964251" cy="22379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dirty="0" err="1">
                <a:latin typeface="+mj-lt"/>
                <a:ea typeface="+mj-ea"/>
                <a:cs typeface="+mj-cs"/>
              </a:rPr>
              <a:t>Munkálati</a:t>
            </a:r>
            <a:r>
              <a:rPr lang="en-US" sz="5100" dirty="0">
                <a:latin typeface="+mj-lt"/>
                <a:ea typeface="+mj-ea"/>
                <a:cs typeface="+mj-cs"/>
              </a:rPr>
              <a:t> </a:t>
            </a:r>
            <a:r>
              <a:rPr lang="en-US" sz="5100" dirty="0" err="1">
                <a:latin typeface="+mj-lt"/>
                <a:ea typeface="+mj-ea"/>
                <a:cs typeface="+mj-cs"/>
              </a:rPr>
              <a:t>folyamatok</a:t>
            </a:r>
            <a:r>
              <a:rPr lang="en-US" sz="5100" dirty="0">
                <a:latin typeface="+mj-lt"/>
                <a:ea typeface="+mj-ea"/>
                <a:cs typeface="+mj-cs"/>
              </a:rPr>
              <a:t> </a:t>
            </a:r>
            <a:r>
              <a:rPr lang="en-US" sz="5100" dirty="0" err="1">
                <a:latin typeface="+mj-lt"/>
                <a:ea typeface="+mj-ea"/>
                <a:cs typeface="+mj-cs"/>
              </a:rPr>
              <a:t>felosztása</a:t>
            </a:r>
            <a:endParaRPr lang="en-US" sz="5100" dirty="0">
              <a:latin typeface="+mj-lt"/>
              <a:ea typeface="+mj-ea"/>
              <a:cs typeface="+mj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9615127-4E4B-44AE-B157-C50975D41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zövegdoboz 3">
            <a:extLst>
              <a:ext uri="{FF2B5EF4-FFF2-40B4-BE49-F238E27FC236}">
                <a16:creationId xmlns:a16="http://schemas.microsoft.com/office/drawing/2014/main" id="{AAFF7C64-F5B0-CF6A-D00D-253747C4CF16}"/>
              </a:ext>
            </a:extLst>
          </p:cNvPr>
          <p:cNvSpPr txBox="1"/>
          <p:nvPr/>
        </p:nvSpPr>
        <p:spPr>
          <a:xfrm>
            <a:off x="482600" y="3408254"/>
            <a:ext cx="3964250" cy="2470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</a:pPr>
            <a:r>
              <a:rPr lang="en-US" sz="2000" dirty="0" err="1">
                <a:effectLst/>
              </a:rPr>
              <a:t>Bár</a:t>
            </a:r>
            <a:r>
              <a:rPr lang="en-US" sz="2000" dirty="0">
                <a:effectLst/>
              </a:rPr>
              <a:t> a </a:t>
            </a:r>
            <a:r>
              <a:rPr lang="en-US" sz="2000" dirty="0" err="1">
                <a:effectLst/>
              </a:rPr>
              <a:t>projekt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folyamán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többször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dolgoztunk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közösen</a:t>
            </a:r>
            <a:r>
              <a:rPr lang="en-US" sz="2000" dirty="0">
                <a:effectLst/>
              </a:rPr>
              <a:t>, a </a:t>
            </a:r>
            <a:r>
              <a:rPr lang="en-US" sz="2000" dirty="0" err="1">
                <a:effectLst/>
              </a:rPr>
              <a:t>feladatokat</a:t>
            </a:r>
            <a:r>
              <a:rPr lang="en-US" sz="2000" dirty="0">
                <a:effectLst/>
              </a:rPr>
              <a:t> </a:t>
            </a:r>
            <a:r>
              <a:rPr lang="hu-HU" sz="2000" dirty="0">
                <a:effectLst/>
              </a:rPr>
              <a:t>három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részre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osztottuk</a:t>
            </a:r>
            <a:r>
              <a:rPr lang="en-US" sz="2000" dirty="0">
                <a:effectLst/>
              </a:rPr>
              <a:t>. A </a:t>
            </a:r>
            <a:r>
              <a:rPr lang="hu-HU" sz="2000" dirty="0">
                <a:effectLst/>
              </a:rPr>
              <a:t>három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területet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próbáltuk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el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szeparálni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egymástól</a:t>
            </a:r>
            <a:r>
              <a:rPr lang="en-US" sz="2000" dirty="0">
                <a:effectLst/>
              </a:rPr>
              <a:t>, </a:t>
            </a:r>
            <a:r>
              <a:rPr lang="en-US" sz="2000" dirty="0" err="1">
                <a:effectLst/>
              </a:rPr>
              <a:t>munkavégzés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szinten</a:t>
            </a:r>
            <a:endParaRPr lang="en-US" sz="2000" dirty="0">
              <a:effectLst/>
            </a:endParaRPr>
          </a:p>
          <a:p>
            <a:pPr>
              <a:spcAft>
                <a:spcPts val="600"/>
              </a:spcAft>
              <a:buFont typeface="Arial" panose="020B0604020202020204" pitchFamily="34" charset="0"/>
            </a:pPr>
            <a:endParaRPr lang="en-US" sz="2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07C7DF-2703-4D3B-B500-8182840C0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Kép 2">
            <a:extLst>
              <a:ext uri="{FF2B5EF4-FFF2-40B4-BE49-F238E27FC236}">
                <a16:creationId xmlns:a16="http://schemas.microsoft.com/office/drawing/2014/main" id="{1902B087-2934-14F9-7583-64C35A0C9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450" y="1516969"/>
            <a:ext cx="7084128" cy="382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817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4E9AF12-0ABE-E324-F31A-8EB96C0B1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232" y="625984"/>
            <a:ext cx="5165725" cy="1012317"/>
          </a:xfrm>
        </p:spPr>
        <p:txBody>
          <a:bodyPr/>
          <a:lstStyle/>
          <a:p>
            <a:pPr algn="ctr"/>
            <a:r>
              <a:rPr lang="hu-HU" dirty="0"/>
              <a:t>A fejlesztők</a:t>
            </a:r>
            <a:endParaRPr lang="en-US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21F6D65F-8CAA-BB89-46BC-145C2CD3C51F}"/>
              </a:ext>
            </a:extLst>
          </p:cNvPr>
          <p:cNvSpPr txBox="1"/>
          <p:nvPr/>
        </p:nvSpPr>
        <p:spPr>
          <a:xfrm>
            <a:off x="409575" y="2495550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/>
              <a:t>Pocsai Gábor</a:t>
            </a:r>
          </a:p>
          <a:p>
            <a:pPr algn="ctr"/>
            <a:r>
              <a:rPr lang="hu-HU" dirty="0"/>
              <a:t>Adatbázis és Dokumentumok</a:t>
            </a:r>
            <a:endParaRPr lang="en-US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736E2BD7-8F7E-646F-C19F-73E6FCC3150B}"/>
              </a:ext>
            </a:extLst>
          </p:cNvPr>
          <p:cNvSpPr txBox="1"/>
          <p:nvPr/>
        </p:nvSpPr>
        <p:spPr>
          <a:xfrm>
            <a:off x="4581525" y="2495550"/>
            <a:ext cx="3028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/>
              <a:t>Ludvig Péter Dániel</a:t>
            </a:r>
          </a:p>
          <a:p>
            <a:pPr algn="ctr"/>
            <a:r>
              <a:rPr lang="hu-HU" dirty="0"/>
              <a:t>Frontend</a:t>
            </a:r>
            <a:endParaRPr lang="en-US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3CBB0AB-EA0E-E774-5987-FFDF99B705E3}"/>
              </a:ext>
            </a:extLst>
          </p:cNvPr>
          <p:cNvSpPr txBox="1"/>
          <p:nvPr/>
        </p:nvSpPr>
        <p:spPr>
          <a:xfrm>
            <a:off x="8867775" y="2524125"/>
            <a:ext cx="2914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/>
              <a:t>Szilágyi </a:t>
            </a:r>
            <a:r>
              <a:rPr lang="hu-HU" b="1" dirty="0" err="1"/>
              <a:t>Jorgosz</a:t>
            </a:r>
            <a:r>
              <a:rPr lang="hu-HU" b="1" dirty="0"/>
              <a:t> Máté</a:t>
            </a:r>
          </a:p>
          <a:p>
            <a:pPr algn="ctr"/>
            <a:r>
              <a:rPr lang="hu-HU" dirty="0"/>
              <a:t>Backend</a:t>
            </a:r>
            <a:endParaRPr lang="en-US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7A242570-0546-6F54-D30C-B67CEB6A36DC}"/>
              </a:ext>
            </a:extLst>
          </p:cNvPr>
          <p:cNvSpPr txBox="1"/>
          <p:nvPr/>
        </p:nvSpPr>
        <p:spPr>
          <a:xfrm>
            <a:off x="409575" y="3798152"/>
            <a:ext cx="34671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/>
              <a:t>Csapat vezető és fejlesztő</a:t>
            </a:r>
          </a:p>
          <a:p>
            <a:pPr algn="ctr"/>
            <a:r>
              <a:rPr lang="hu-HU" dirty="0"/>
              <a:t>Feladat: Adatbázis megtervezése és elkészítése. Dokumentumok és a </a:t>
            </a:r>
            <a:r>
              <a:rPr lang="hu-HU" dirty="0" err="1"/>
              <a:t>Git</a:t>
            </a:r>
            <a:r>
              <a:rPr lang="hu-HU" dirty="0"/>
              <a:t> verziókezelés tervezése és a </a:t>
            </a:r>
            <a:r>
              <a:rPr lang="hu-HU" dirty="0" err="1"/>
              <a:t>Trello</a:t>
            </a:r>
            <a:r>
              <a:rPr lang="hu-HU" dirty="0"/>
              <a:t> irányítása.</a:t>
            </a:r>
            <a:endParaRPr lang="en-US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F823F7D8-DB8C-D748-379A-D48F6D9C0109}"/>
              </a:ext>
            </a:extLst>
          </p:cNvPr>
          <p:cNvSpPr txBox="1"/>
          <p:nvPr/>
        </p:nvSpPr>
        <p:spPr>
          <a:xfrm>
            <a:off x="4581525" y="3659653"/>
            <a:ext cx="30289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/>
              <a:t>Fejlesztő</a:t>
            </a:r>
          </a:p>
          <a:p>
            <a:pPr algn="ctr"/>
            <a:r>
              <a:rPr lang="hu-HU" dirty="0"/>
              <a:t>Feladat: A dizájn kialakítása és megalkotása. Minden vezérlő elkészítése amit lát a felhasználó és amivel </a:t>
            </a:r>
            <a:r>
              <a:rPr lang="hu-HU" dirty="0" err="1"/>
              <a:t>interaktál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FAA2A5D6-06F4-622F-0E5F-4A74FD71DAC2}"/>
              </a:ext>
            </a:extLst>
          </p:cNvPr>
          <p:cNvSpPr txBox="1"/>
          <p:nvPr/>
        </p:nvSpPr>
        <p:spPr>
          <a:xfrm>
            <a:off x="8867775" y="3687545"/>
            <a:ext cx="30861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/>
              <a:t>Fejlesztő</a:t>
            </a:r>
          </a:p>
          <a:p>
            <a:pPr algn="ctr"/>
            <a:r>
              <a:rPr lang="hu-HU" dirty="0"/>
              <a:t>Feladat: Az adatbázissal összekötött folyamatok végrehajtása és kérések kezelése, háttérfunkciók működése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79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DC0DF0-761D-AFE6-F569-79F43B264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914401"/>
            <a:ext cx="10506991" cy="837398"/>
          </a:xfrm>
        </p:spPr>
        <p:txBody>
          <a:bodyPr>
            <a:normAutofit/>
          </a:bodyPr>
          <a:lstStyle/>
          <a:p>
            <a:r>
              <a:rPr lang="hu-HU" sz="4000" dirty="0"/>
              <a:t>Projekt felépítése</a:t>
            </a:r>
            <a:endParaRPr lang="en-US" sz="4000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2CF5AEA6-E6BD-2F26-E2F2-C0320BF17988}"/>
              </a:ext>
            </a:extLst>
          </p:cNvPr>
          <p:cNvSpPr txBox="1"/>
          <p:nvPr/>
        </p:nvSpPr>
        <p:spPr>
          <a:xfrm>
            <a:off x="570369" y="2679826"/>
            <a:ext cx="33226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dirty="0" err="1"/>
              <a:t>backendhez</a:t>
            </a:r>
            <a:r>
              <a:rPr lang="en-US" dirty="0"/>
              <a:t> </a:t>
            </a:r>
            <a:r>
              <a:rPr lang="en-US" dirty="0" err="1"/>
              <a:t>ASP.NET</a:t>
            </a:r>
            <a:r>
              <a:rPr lang="en-US" dirty="0"/>
              <a:t> </a:t>
            </a:r>
            <a:r>
              <a:rPr lang="en-US" dirty="0" err="1"/>
              <a:t>keretrendszert</a:t>
            </a:r>
            <a:r>
              <a:rPr lang="hu-HU" dirty="0"/>
              <a:t> </a:t>
            </a:r>
            <a:r>
              <a:rPr lang="en-US" dirty="0" err="1"/>
              <a:t>használunk</a:t>
            </a:r>
            <a:r>
              <a:rPr lang="en-US" dirty="0"/>
              <a:t>,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adatbázishoz</a:t>
            </a:r>
            <a:r>
              <a:rPr lang="en-US" dirty="0"/>
              <a:t> </a:t>
            </a:r>
            <a:r>
              <a:rPr lang="en-US" dirty="0" err="1"/>
              <a:t>való</a:t>
            </a:r>
            <a:r>
              <a:rPr lang="hu-HU" dirty="0"/>
              <a:t> </a:t>
            </a:r>
            <a:r>
              <a:rPr lang="en-US" dirty="0" err="1"/>
              <a:t>csatlakozáshoz</a:t>
            </a:r>
            <a:r>
              <a:rPr lang="hu-HU" dirty="0"/>
              <a:t> pedig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Entity </a:t>
            </a:r>
            <a:r>
              <a:rPr lang="en-US" dirty="0" err="1"/>
              <a:t>Frameworkothasználjuk</a:t>
            </a:r>
            <a:r>
              <a:rPr lang="en-US" dirty="0"/>
              <a:t>. A backend </a:t>
            </a:r>
            <a:r>
              <a:rPr lang="hu-HU" dirty="0"/>
              <a:t>a </a:t>
            </a:r>
            <a:r>
              <a:rPr lang="hu-HU" dirty="0" err="1"/>
              <a:t>render</a:t>
            </a:r>
            <a:r>
              <a:rPr lang="hu-HU" dirty="0"/>
              <a:t> </a:t>
            </a:r>
            <a:r>
              <a:rPr lang="en-US" dirty="0" err="1"/>
              <a:t>platformra</a:t>
            </a:r>
            <a:r>
              <a:rPr lang="en-US" dirty="0"/>
              <a:t> van</a:t>
            </a:r>
            <a:r>
              <a:rPr lang="hu-HU" dirty="0"/>
              <a:t> </a:t>
            </a:r>
            <a:r>
              <a:rPr lang="en-US" dirty="0" err="1"/>
              <a:t>deployolva</a:t>
            </a:r>
            <a:r>
              <a:rPr lang="en-US" dirty="0"/>
              <a:t>, </a:t>
            </a:r>
            <a:r>
              <a:rPr lang="en-US" dirty="0" err="1"/>
              <a:t>minden</a:t>
            </a:r>
            <a:r>
              <a:rPr lang="hu-HU" dirty="0"/>
              <a:t> </a:t>
            </a:r>
            <a:r>
              <a:rPr lang="en-US" dirty="0"/>
              <a:t>GitHub commit </a:t>
            </a:r>
            <a:r>
              <a:rPr lang="en-US" dirty="0" err="1"/>
              <a:t>után</a:t>
            </a:r>
            <a:r>
              <a:rPr lang="en-US" dirty="0"/>
              <a:t> </a:t>
            </a:r>
            <a:r>
              <a:rPr lang="hu-HU" dirty="0"/>
              <a:t>ez  automatikusan frissítésre kerül</a:t>
            </a:r>
            <a:endParaRPr lang="en-US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00BD547E-F400-B116-2B23-6281DB8465CC}"/>
              </a:ext>
            </a:extLst>
          </p:cNvPr>
          <p:cNvSpPr txBox="1"/>
          <p:nvPr/>
        </p:nvSpPr>
        <p:spPr>
          <a:xfrm>
            <a:off x="570368" y="2014443"/>
            <a:ext cx="2435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Backend</a:t>
            </a:r>
            <a:endParaRPr lang="en-US" sz="2400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3DBE3F33-E928-0B50-275C-DBB14283955C}"/>
              </a:ext>
            </a:extLst>
          </p:cNvPr>
          <p:cNvSpPr txBox="1"/>
          <p:nvPr/>
        </p:nvSpPr>
        <p:spPr>
          <a:xfrm>
            <a:off x="4128380" y="2967335"/>
            <a:ext cx="34765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dirty="0" err="1"/>
              <a:t>frontendhez</a:t>
            </a:r>
            <a:r>
              <a:rPr lang="en-US" dirty="0"/>
              <a:t> React </a:t>
            </a:r>
            <a:r>
              <a:rPr lang="en-US" dirty="0" err="1"/>
              <a:t>keretrendszert</a:t>
            </a:r>
            <a:r>
              <a:rPr lang="hu-HU" dirty="0"/>
              <a:t> h</a:t>
            </a:r>
            <a:r>
              <a:rPr lang="en-US" dirty="0" err="1"/>
              <a:t>asználunk</a:t>
            </a:r>
            <a:r>
              <a:rPr lang="hu-HU" dirty="0"/>
              <a:t>.</a:t>
            </a:r>
            <a:endParaRPr lang="en-US" dirty="0"/>
          </a:p>
          <a:p>
            <a:r>
              <a:rPr lang="hu-HU" dirty="0"/>
              <a:t>A </a:t>
            </a:r>
            <a:r>
              <a:rPr lang="en-US" dirty="0" err="1"/>
              <a:t>routinghoz</a:t>
            </a:r>
            <a:r>
              <a:rPr lang="hu-HU" dirty="0"/>
              <a:t> pedig</a:t>
            </a:r>
            <a:r>
              <a:rPr lang="en-US" dirty="0"/>
              <a:t> React </a:t>
            </a:r>
            <a:r>
              <a:rPr lang="en-US" dirty="0" err="1"/>
              <a:t>Routert</a:t>
            </a:r>
            <a:r>
              <a:rPr lang="hu-HU" dirty="0"/>
              <a:t>, a kérések kezelésére pedig az </a:t>
            </a:r>
            <a:r>
              <a:rPr lang="hu-HU" dirty="0" err="1"/>
              <a:t>Axios</a:t>
            </a:r>
            <a:r>
              <a:rPr lang="hu-HU" dirty="0"/>
              <a:t>-t.</a:t>
            </a:r>
            <a:r>
              <a:rPr lang="en-US" dirty="0"/>
              <a:t> </a:t>
            </a:r>
            <a:r>
              <a:rPr lang="hu-HU" dirty="0"/>
              <a:t>A weboldal szebb kinézetéhez a </a:t>
            </a:r>
            <a:r>
              <a:rPr lang="hu-HU" dirty="0" err="1"/>
              <a:t>Bootstrap</a:t>
            </a:r>
            <a:r>
              <a:rPr lang="hu-HU" dirty="0"/>
              <a:t> keretrendszert alkalmaztuk.</a:t>
            </a:r>
            <a:endParaRPr lang="en-US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8AA3365D-7227-F163-3192-7BDCC2A5CA18}"/>
              </a:ext>
            </a:extLst>
          </p:cNvPr>
          <p:cNvSpPr txBox="1"/>
          <p:nvPr/>
        </p:nvSpPr>
        <p:spPr>
          <a:xfrm>
            <a:off x="4128380" y="1984980"/>
            <a:ext cx="2199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Frontend</a:t>
            </a:r>
            <a:endParaRPr lang="en-US" sz="2400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F6660CB2-7B7A-CC57-8002-146FDD0D11F7}"/>
              </a:ext>
            </a:extLst>
          </p:cNvPr>
          <p:cNvSpPr txBox="1"/>
          <p:nvPr/>
        </p:nvSpPr>
        <p:spPr>
          <a:xfrm>
            <a:off x="7767872" y="1860378"/>
            <a:ext cx="42460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/>
              <a:t>Adatbázis, Verzió kezelés és adatok tárolása</a:t>
            </a:r>
            <a:endParaRPr lang="en-US" sz="2400" dirty="0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E224DF3E-BFD8-4539-6506-AF47AF076F61}"/>
              </a:ext>
            </a:extLst>
          </p:cNvPr>
          <p:cNvSpPr txBox="1"/>
          <p:nvPr/>
        </p:nvSpPr>
        <p:spPr>
          <a:xfrm>
            <a:off x="8148119" y="2967335"/>
            <a:ext cx="36304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teljes projektünket a </a:t>
            </a:r>
            <a:r>
              <a:rPr lang="hu-HU" dirty="0" err="1"/>
              <a:t>Github-on</a:t>
            </a:r>
            <a:r>
              <a:rPr lang="hu-HU" dirty="0"/>
              <a:t> tároljuk és kezeljünk annak verzióit. Az adatbázisunk pedig </a:t>
            </a:r>
            <a:r>
              <a:rPr lang="hu-HU" dirty="0" err="1"/>
              <a:t>MySQL</a:t>
            </a:r>
            <a:r>
              <a:rPr lang="hu-HU" dirty="0"/>
              <a:t>-ben lett elkészítve.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48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0D406F7-A0DD-B9EF-A730-B357CD2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6160"/>
            <a:ext cx="3964251" cy="22379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100"/>
              <a:t>HomePage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9615127-4E4B-44AE-B157-C50975D41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A7DE24A-D6BE-544C-4DE9-69560D4FD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3408254"/>
            <a:ext cx="3964250" cy="247003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A </a:t>
            </a:r>
            <a:r>
              <a:rPr lang="en-US" sz="2000" dirty="0" err="1"/>
              <a:t>HealthBro</a:t>
            </a:r>
            <a:r>
              <a:rPr lang="en-US" sz="2000" dirty="0"/>
              <a:t> </a:t>
            </a:r>
            <a:r>
              <a:rPr lang="en-US" sz="2000" dirty="0" err="1"/>
              <a:t>webalkalmazásunkat</a:t>
            </a:r>
            <a:r>
              <a:rPr lang="en-US" sz="2000" dirty="0"/>
              <a:t> </a:t>
            </a:r>
            <a:r>
              <a:rPr lang="en-US" sz="2000" dirty="0" err="1">
                <a:effectLst/>
              </a:rPr>
              <a:t>próbáltuk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úgy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tervezni</a:t>
            </a:r>
            <a:r>
              <a:rPr lang="en-US" sz="2000" dirty="0">
                <a:effectLst/>
              </a:rPr>
              <a:t>, </a:t>
            </a:r>
            <a:r>
              <a:rPr lang="en-US" sz="2000" dirty="0" err="1">
                <a:effectLst/>
              </a:rPr>
              <a:t>hogy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egy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letisztult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oldal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várja</a:t>
            </a:r>
            <a:r>
              <a:rPr lang="en-US" sz="2000" dirty="0">
                <a:effectLst/>
              </a:rPr>
              <a:t> a </a:t>
            </a:r>
            <a:r>
              <a:rPr lang="en-US" sz="2000" dirty="0" err="1">
                <a:effectLst/>
              </a:rPr>
              <a:t>felhasználót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és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minden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platformon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elérhető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legyen</a:t>
            </a:r>
            <a:r>
              <a:rPr lang="en-US" sz="2000" dirty="0">
                <a:effectLst/>
              </a:rPr>
              <a:t>. 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01B6DE0C-073D-CA3E-ED9E-164B90DA361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0694" y="1814701"/>
            <a:ext cx="6588977" cy="322859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07C7DF-2703-4D3B-B500-8182840C0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925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9615127-4E4B-44AE-B157-C50975D41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7C298634-3CB4-3B48-F7E1-93ACE2BF0636}"/>
              </a:ext>
            </a:extLst>
          </p:cNvPr>
          <p:cNvSpPr txBox="1"/>
          <p:nvPr/>
        </p:nvSpPr>
        <p:spPr>
          <a:xfrm>
            <a:off x="1082675" y="1855679"/>
            <a:ext cx="3964250" cy="36402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</a:pPr>
            <a:r>
              <a:rPr lang="hu-HU" sz="2000" dirty="0">
                <a:effectLst/>
              </a:rPr>
              <a:t>A regisztrációs fülön ki kell töltsünk minden mezőt, hogy sikeresen regisztrálhassunk fiókunkat az oldalon.</a:t>
            </a:r>
            <a:endParaRPr lang="en-US" sz="2000" dirty="0">
              <a:effectLst/>
            </a:endParaRPr>
          </a:p>
          <a:p>
            <a:pPr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</a:pPr>
            <a:r>
              <a:rPr lang="en-US" sz="2000" dirty="0">
                <a:effectLst/>
              </a:rPr>
              <a:t>A </a:t>
            </a:r>
            <a:r>
              <a:rPr lang="hu-HU" sz="2000" dirty="0">
                <a:effectLst/>
              </a:rPr>
              <a:t>jelszónak érdemes olyan karakterek és számok sorozatát választani, amellyel biztosíthatjuk fiókunk védelmét.</a:t>
            </a:r>
            <a:endParaRPr lang="en-US" sz="2000" dirty="0">
              <a:effectLst/>
            </a:endParaRPr>
          </a:p>
          <a:p>
            <a:pPr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</a:pPr>
            <a:r>
              <a:rPr lang="en-US" sz="2000" dirty="0">
                <a:effectLst/>
              </a:rPr>
              <a:t>A </a:t>
            </a:r>
            <a:r>
              <a:rPr lang="en-US" sz="2000" dirty="0" err="1">
                <a:effectLst/>
              </a:rPr>
              <a:t>bejelentkezés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fülön</a:t>
            </a:r>
            <a:r>
              <a:rPr lang="en-US" sz="2000" dirty="0">
                <a:effectLst/>
              </a:rPr>
              <a:t> meg </a:t>
            </a:r>
            <a:r>
              <a:rPr lang="en-US" sz="2000" dirty="0" err="1">
                <a:effectLst/>
              </a:rPr>
              <a:t>kell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adnunk</a:t>
            </a:r>
            <a:r>
              <a:rPr lang="en-US" sz="2000" dirty="0">
                <a:effectLst/>
              </a:rPr>
              <a:t> a </a:t>
            </a:r>
            <a:r>
              <a:rPr lang="en-US" sz="2000" dirty="0" err="1">
                <a:effectLst/>
              </a:rPr>
              <a:t>felhasználónevünket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és</a:t>
            </a:r>
            <a:r>
              <a:rPr lang="en-US" sz="2000" dirty="0">
                <a:effectLst/>
              </a:rPr>
              <a:t> a </a:t>
            </a:r>
            <a:r>
              <a:rPr lang="en-US" sz="2000" dirty="0" err="1">
                <a:effectLst/>
              </a:rPr>
              <a:t>jelszavunkat</a:t>
            </a:r>
            <a:r>
              <a:rPr lang="en-US" sz="2000" dirty="0">
                <a:effectLst/>
              </a:rPr>
              <a:t>.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776CA218-034A-A5F2-0BCB-292A175398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59562" y="659381"/>
            <a:ext cx="3351240" cy="553924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607C7DF-2703-4D3B-B500-8182840C0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469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82DAF4-F605-19D7-3010-FA4E81A07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350" y="1973370"/>
            <a:ext cx="4508499" cy="2572721"/>
          </a:xfrm>
        </p:spPr>
        <p:txBody>
          <a:bodyPr/>
          <a:lstStyle/>
          <a:p>
            <a:r>
              <a:rPr lang="hu-HU" dirty="0"/>
              <a:t>Miután megadtuk adatainkat a regisztrációs panelen. Az emailben kapott „Regisztráció megerősítése” gombbal azt aktiválnunk is kell, hogy utána be tudjunk jelentkezni.</a:t>
            </a:r>
            <a:endParaRPr lang="en-US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19A869D-AC94-4115-EC42-82D66A80A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562" y="1320631"/>
            <a:ext cx="6087325" cy="3953427"/>
          </a:xfrm>
          <a:prstGeom prst="rect">
            <a:avLst/>
          </a:prstGeom>
          <a:ln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3278023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5F60170-91B4-45F0-B88B-9C07AEC46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91499090-0956-2221-30A2-265410ADF278}"/>
              </a:ext>
            </a:extLst>
          </p:cNvPr>
          <p:cNvSpPr txBox="1"/>
          <p:nvPr/>
        </p:nvSpPr>
        <p:spPr>
          <a:xfrm>
            <a:off x="5965296" y="1541070"/>
            <a:ext cx="5614993" cy="30934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hu-HU" sz="4100" dirty="0">
                <a:latin typeface="+mj-lt"/>
                <a:ea typeface="+mj-ea"/>
                <a:cs typeface="+mj-cs"/>
              </a:rPr>
              <a:t>Létre tudunk hozni edzésterveket és azokat módosítani, tetszés szerint.</a:t>
            </a:r>
            <a:endParaRPr lang="en-US" sz="4100" dirty="0">
              <a:latin typeface="+mj-lt"/>
              <a:ea typeface="+mj-ea"/>
              <a:cs typeface="+mj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E3B19C-5EF6-492A-AA6F-EC0C2F236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Kép 2" descr="A képen szöveg, képernyőkép, rajzfilm, Mobiltelefon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A340605-142C-9D98-751B-D6BA85AB3E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715" y="668861"/>
            <a:ext cx="4715871" cy="552309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2DB647E-7779-454B-9098-17E6CE33D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224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zövegdoboz 5">
            <a:extLst>
              <a:ext uri="{FF2B5EF4-FFF2-40B4-BE49-F238E27FC236}">
                <a16:creationId xmlns:a16="http://schemas.microsoft.com/office/drawing/2014/main" id="{FFA45B87-D535-4A78-51E4-3464E5ABCF84}"/>
              </a:ext>
            </a:extLst>
          </p:cNvPr>
          <p:cNvSpPr txBox="1"/>
          <p:nvPr/>
        </p:nvSpPr>
        <p:spPr>
          <a:xfrm>
            <a:off x="1819094" y="5480100"/>
            <a:ext cx="8763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Tetszés szerint vagy igényeink szerint adhatunk hozzá gyakorlatokat edzéstervünkhöz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0DAB4E29-85E7-2DB8-ED16-A6F4621FC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47178"/>
            <a:ext cx="10496550" cy="47106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39109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D26F876-5C74-3CEF-1124-B243461EA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525" y="2331929"/>
            <a:ext cx="3964250" cy="2470031"/>
          </a:xfrm>
        </p:spPr>
        <p:txBody>
          <a:bodyPr>
            <a:normAutofit/>
          </a:bodyPr>
          <a:lstStyle/>
          <a:p>
            <a:r>
              <a:rPr lang="hu-HU" sz="2800" dirty="0"/>
              <a:t>Saját FTP szerverrel is rendelkezünk ahol a felhasználók képei kerülnek eltárolásra:</a:t>
            </a:r>
            <a:br>
              <a:rPr lang="hu-HU" sz="2800" dirty="0"/>
            </a:br>
            <a:r>
              <a:rPr lang="en-US" sz="2000" b="0" i="0" dirty="0">
                <a:effectLst/>
                <a:latin typeface="gg sans"/>
              </a:rPr>
              <a:t>healthbro.nhely.hu</a:t>
            </a:r>
            <a:endParaRPr lang="en-US" sz="2800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D47F1AFF-1A4D-22AE-1CD6-11F9228DEF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5514" r="2" b="7059"/>
          <a:stretch>
            <a:fillRect/>
          </a:stretch>
        </p:blipFill>
        <p:spPr>
          <a:xfrm>
            <a:off x="5040694" y="489856"/>
            <a:ext cx="6588977" cy="587828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A9FE31-8E40-4AAC-8B90-1AD6D7520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2CE755F-6139-4A64-8874-30A9A3EFB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785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2927E5-081D-440D-A775-C0AE9DA1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07" y="489856"/>
            <a:ext cx="11147071" cy="147664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07D22EB-34F2-D70C-07E0-5F277851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721946"/>
            <a:ext cx="10813250" cy="10221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/>
              <a:t>Adatbázis terv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2CDD0E7-BDD6-41F4-8AAB-088A2E8D0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558310-C928-4426-BFAC-68450D291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199351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58B45F5-E162-4AF7-9E46-A4290969B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Kép 4">
            <a:extLst>
              <a:ext uri="{FF2B5EF4-FFF2-40B4-BE49-F238E27FC236}">
                <a16:creationId xmlns:a16="http://schemas.microsoft.com/office/drawing/2014/main" id="{353D6DC9-9D78-8F93-143B-31201CE27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49" y="2020533"/>
            <a:ext cx="11831701" cy="432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231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BDEE1358-12DD-0496-8DF5-547491F72A7D}"/>
              </a:ext>
            </a:extLst>
          </p:cNvPr>
          <p:cNvSpPr txBox="1"/>
          <p:nvPr/>
        </p:nvSpPr>
        <p:spPr>
          <a:xfrm>
            <a:off x="2723594" y="1601112"/>
            <a:ext cx="6076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dirty="0"/>
          </a:p>
          <a:p>
            <a:r>
              <a:rPr lang="hu-HU" dirty="0"/>
              <a:t>Számos végpontokat sikerült a projektünk alatt elkészítenünk, köztük többnyire mindenhol a CRUD műveleteket is.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DE9B05C-7484-9B3F-9337-EFBB929B65F8}"/>
              </a:ext>
            </a:extLst>
          </p:cNvPr>
          <p:cNvSpPr txBox="1"/>
          <p:nvPr/>
        </p:nvSpPr>
        <p:spPr>
          <a:xfrm>
            <a:off x="4886598" y="926086"/>
            <a:ext cx="2135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200" dirty="0"/>
              <a:t>Végpontok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01CD1903-3131-975C-09AB-880B83450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2784"/>
            <a:ext cx="12192000" cy="226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06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1059598-12A9-276A-175B-16C7C2AA7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4109335"/>
            <a:ext cx="5613399" cy="1772513"/>
          </a:xfrm>
        </p:spPr>
        <p:txBody>
          <a:bodyPr anchor="ctr">
            <a:normAutofit/>
          </a:bodyPr>
          <a:lstStyle/>
          <a:p>
            <a:r>
              <a:rPr lang="hu-HU" dirty="0" err="1"/>
              <a:t>Admin</a:t>
            </a:r>
            <a:r>
              <a:rPr lang="hu-HU" dirty="0"/>
              <a:t> felület</a:t>
            </a:r>
            <a:endParaRPr lang="en-US" dirty="0"/>
          </a:p>
        </p:txBody>
      </p:sp>
      <p:pic>
        <p:nvPicPr>
          <p:cNvPr id="5" name="Kép 4" descr="A képen szöveg, képernyőkép, szám, képernyő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E6275EB-18BE-01E6-6B2B-70770B2C1E1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28" r="1" b="37133"/>
          <a:stretch>
            <a:fillRect/>
          </a:stretch>
        </p:blipFill>
        <p:spPr>
          <a:xfrm>
            <a:off x="481803" y="484625"/>
            <a:ext cx="11147071" cy="343268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C7C49D1-7D30-4EB5-A80A-BE1E9B477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105C5B1-BB24-4A5C-87B3-3B75CD259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3917307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F846E49-0312-49D1-2EEE-B6B8987B2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4144" y="4109325"/>
            <a:ext cx="5114069" cy="1772517"/>
          </a:xfrm>
        </p:spPr>
        <p:txBody>
          <a:bodyPr anchor="ctr">
            <a:normAutofit/>
          </a:bodyPr>
          <a:lstStyle/>
          <a:p>
            <a:r>
              <a:rPr lang="hu-HU" sz="2000" dirty="0"/>
              <a:t>Itt tudjuk a gyakorlatokat és a felhasználókat karbantartani. Ha kérvényezik az oldalunkon egy új gyakorlat pótlását azt itt tudják a fejlesztők megtenni.</a:t>
            </a:r>
            <a:endParaRPr lang="en-US" sz="2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C9A9BAE-34E3-4B7D-BC11-851365763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692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018A105E-E4E9-01F0-24E9-90F91C8B2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084" y="2313038"/>
            <a:ext cx="4816987" cy="2231921"/>
          </a:xfrm>
        </p:spPr>
        <p:txBody>
          <a:bodyPr>
            <a:noAutofit/>
          </a:bodyPr>
          <a:lstStyle/>
          <a:p>
            <a:r>
              <a:rPr lang="hu-HU" sz="3200" dirty="0"/>
              <a:t>Saját dokumentációnk is készült a projekt során, amelyet a </a:t>
            </a:r>
            <a:r>
              <a:rPr lang="hu-HU" sz="3200" dirty="0" err="1"/>
              <a:t>LaTeX</a:t>
            </a:r>
            <a:r>
              <a:rPr lang="hu-HU" sz="3200" dirty="0"/>
              <a:t>-ben, </a:t>
            </a:r>
            <a:r>
              <a:rPr lang="hu-HU" sz="3200" dirty="0" err="1"/>
              <a:t>Tex</a:t>
            </a:r>
            <a:r>
              <a:rPr lang="hu-HU" sz="3200" dirty="0"/>
              <a:t> stúdióban írtunk meg.</a:t>
            </a:r>
            <a:endParaRPr lang="en-US" sz="3200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07D4E66D-951E-DC03-3298-5B5F5B542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490" y="594851"/>
            <a:ext cx="5235073" cy="566829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50800" dir="5400000" algn="ctr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2757855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4A3174-FDA7-8AFB-3693-485626612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764" y="2130933"/>
            <a:ext cx="10634472" cy="2157984"/>
          </a:xfrm>
        </p:spPr>
        <p:txBody>
          <a:bodyPr/>
          <a:lstStyle/>
          <a:p>
            <a:pPr algn="ctr"/>
            <a:r>
              <a:rPr lang="hu-HU" dirty="0"/>
              <a:t>Köszönjük a figyelmet!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986596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AnalogousFromRegularSeedLeftStep">
      <a:dk1>
        <a:srgbClr val="000000"/>
      </a:dk1>
      <a:lt1>
        <a:srgbClr val="FFFFFF"/>
      </a:lt1>
      <a:dk2>
        <a:srgbClr val="1D311B"/>
      </a:dk2>
      <a:lt2>
        <a:srgbClr val="F3F1F0"/>
      </a:lt2>
      <a:accent1>
        <a:srgbClr val="47ACC3"/>
      </a:accent1>
      <a:accent2>
        <a:srgbClr val="36B396"/>
      </a:accent2>
      <a:accent3>
        <a:srgbClr val="42B76B"/>
      </a:accent3>
      <a:accent4>
        <a:srgbClr val="3FB637"/>
      </a:accent4>
      <a:accent5>
        <a:srgbClr val="75AF40"/>
      </a:accent5>
      <a:accent6>
        <a:srgbClr val="9DA933"/>
      </a:accent6>
      <a:hlink>
        <a:srgbClr val="C05942"/>
      </a:hlink>
      <a:folHlink>
        <a:srgbClr val="7F7F7F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434</Words>
  <Application>Microsoft Office PowerPoint</Application>
  <PresentationFormat>Szélesvásznú</PresentationFormat>
  <Paragraphs>57</Paragraphs>
  <Slides>16</Slides>
  <Notes>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1" baseType="lpstr">
      <vt:lpstr>Aptos</vt:lpstr>
      <vt:lpstr>Arial</vt:lpstr>
      <vt:lpstr>gg sans</vt:lpstr>
      <vt:lpstr>Seaford</vt:lpstr>
      <vt:lpstr>LevelVTI</vt:lpstr>
      <vt:lpstr>HealthBRO</vt:lpstr>
      <vt:lpstr>HealtBro a Nagy UNCIA által</vt:lpstr>
      <vt:lpstr>PowerPoint-bemutató</vt:lpstr>
      <vt:lpstr>A fejlesztők</vt:lpstr>
      <vt:lpstr>PowerPoint-bemutató</vt:lpstr>
      <vt:lpstr>HomePage</vt:lpstr>
      <vt:lpstr>PowerPoint-bemutató</vt:lpstr>
      <vt:lpstr>PowerPoint-bemutató</vt:lpstr>
      <vt:lpstr>PowerPoint-bemutató</vt:lpstr>
      <vt:lpstr>PowerPoint-bemutató</vt:lpstr>
      <vt:lpstr>PowerPoint-bemutató</vt:lpstr>
      <vt:lpstr>Adatbázis terv</vt:lpstr>
      <vt:lpstr>PowerPoint-bemutató</vt:lpstr>
      <vt:lpstr>Admin felület</vt:lpstr>
      <vt:lpstr>PowerPoint-bemutató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SuitUP</dc:title>
  <dc:creator>Balázs Máté</dc:creator>
  <cp:lastModifiedBy>gabcsi115@sulid.hu</cp:lastModifiedBy>
  <cp:revision>44</cp:revision>
  <dcterms:created xsi:type="dcterms:W3CDTF">2024-05-26T19:22:03Z</dcterms:created>
  <dcterms:modified xsi:type="dcterms:W3CDTF">2025-05-19T08:00:53Z</dcterms:modified>
</cp:coreProperties>
</file>